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aser Arabic Heavy" charset="1" panose="00000A00000000000000"/>
      <p:regular r:id="rId20"/>
    </p:embeddedFont>
    <p:embeddedFont>
      <p:font typeface="Mardoto Bold" charset="1" panose="00000800000000000000"/>
      <p:regular r:id="rId21"/>
    </p:embeddedFont>
    <p:embeddedFont>
      <p:font typeface="Mardoto" charset="1" panose="00000500000000000000"/>
      <p:regular r:id="rId22"/>
    </p:embeddedFont>
    <p:embeddedFont>
      <p:font typeface="Mardoto Medium" charset="1" panose="00000600000000000000"/>
      <p:regular r:id="rId23"/>
    </p:embeddedFont>
    <p:embeddedFont>
      <p:font typeface="Montaser Arabic Bold" charset="1" panose="00000800000000000000"/>
      <p:regular r:id="rId24"/>
    </p:embeddedFont>
    <p:embeddedFont>
      <p:font typeface="Berthold Block" charset="1" panose="02000506040000020004"/>
      <p:regular r:id="rId25"/>
    </p:embeddedFont>
    <p:embeddedFont>
      <p:font typeface="Montserrat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196" y="2790483"/>
            <a:ext cx="13577011" cy="2854529"/>
            <a:chOff x="0" y="0"/>
            <a:chExt cx="3575838" cy="751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838" cy="751810"/>
            </a:xfrm>
            <a:custGeom>
              <a:avLst/>
              <a:gdLst/>
              <a:ahLst/>
              <a:cxnLst/>
              <a:rect r="r" b="b" t="t" l="l"/>
              <a:pathLst>
                <a:path h="751810" w="3575838">
                  <a:moveTo>
                    <a:pt x="0" y="0"/>
                  </a:moveTo>
                  <a:lnTo>
                    <a:pt x="3575838" y="0"/>
                  </a:lnTo>
                  <a:lnTo>
                    <a:pt x="3575838" y="751810"/>
                  </a:lnTo>
                  <a:lnTo>
                    <a:pt x="0" y="751810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75838" cy="799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92078" y="3781048"/>
            <a:ext cx="14103844" cy="166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47"/>
              </a:lnSpc>
            </a:pPr>
            <a:r>
              <a:rPr lang="en-US" b="true" sz="1077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“GÜENSEBS”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5236272" y="-1468692"/>
            <a:ext cx="4046056" cy="2430717"/>
            <a:chOff x="0" y="0"/>
            <a:chExt cx="1065628" cy="640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6999532" y="-87300"/>
            <a:ext cx="204131" cy="1145622"/>
            <a:chOff x="0" y="0"/>
            <a:chExt cx="272175" cy="152749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32" id="32"/>
          <p:cNvSpPr/>
          <p:nvPr/>
        </p:nvSpPr>
        <p:spPr>
          <a:xfrm flipH="false" flipV="false" rot="0">
            <a:off x="1630350" y="364396"/>
            <a:ext cx="3768116" cy="2021522"/>
          </a:xfrm>
          <a:custGeom>
            <a:avLst/>
            <a:gdLst/>
            <a:ahLst/>
            <a:cxnLst/>
            <a:rect r="r" b="b" t="t" l="l"/>
            <a:pathLst>
              <a:path h="2021522" w="3768116">
                <a:moveTo>
                  <a:pt x="0" y="0"/>
                </a:moveTo>
                <a:lnTo>
                  <a:pt x="3768117" y="0"/>
                </a:lnTo>
                <a:lnTo>
                  <a:pt x="3768117" y="2021521"/>
                </a:lnTo>
                <a:lnTo>
                  <a:pt x="0" y="2021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439896" y="3088448"/>
            <a:ext cx="1144961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Ingeniería de sistemas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76196" y="6378437"/>
            <a:ext cx="4371155" cy="202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Integrantes del grupo:</a:t>
            </a:r>
          </a:p>
          <a:p>
            <a:pPr algn="l" marL="411592" indent="-205796" lvl="1">
              <a:lnSpc>
                <a:spcPts val="2668"/>
              </a:lnSpc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Br. Cesar Bismarck Sequeira Avalos.</a:t>
            </a:r>
          </a:p>
          <a:p>
            <a:pPr algn="l" marL="411592" indent="-205796" lvl="1">
              <a:lnSpc>
                <a:spcPts val="2668"/>
              </a:lnSpc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Br. Giancarlo André Larios Martinez.</a:t>
            </a:r>
          </a:p>
          <a:p>
            <a:pPr algn="l" marL="411592" indent="-205796" lvl="1">
              <a:lnSpc>
                <a:spcPts val="2668"/>
              </a:lnSpc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Br. Cristopher Iván Sevilla Cruz.</a:t>
            </a:r>
          </a:p>
          <a:p>
            <a:pPr algn="l" marL="411592" indent="-205796" lvl="1">
              <a:lnSpc>
                <a:spcPts val="2668"/>
              </a:lnSpc>
              <a:spcBef>
                <a:spcPct val="0"/>
              </a:spcBef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Br. Daniel Johanam Garcia Melendez.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51724" y="6378437"/>
            <a:ext cx="7777063" cy="169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Docentes:</a:t>
            </a:r>
          </a:p>
          <a:p>
            <a:pPr algn="l" marL="411592" indent="-205796" lvl="1">
              <a:lnSpc>
                <a:spcPts val="2668"/>
              </a:lnSpc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MSc. Hazel Karina Rodriguez Rivas - Integrador II / TI en la Empresa</a:t>
            </a:r>
          </a:p>
          <a:p>
            <a:pPr algn="l" marL="411592" indent="-205796" lvl="1">
              <a:lnSpc>
                <a:spcPts val="2668"/>
              </a:lnSpc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MSc. Carlos Mauricio Ruiz Dávila - Matemática Discreta</a:t>
            </a:r>
          </a:p>
          <a:p>
            <a:pPr algn="l" marL="411592" indent="-205796" lvl="1">
              <a:lnSpc>
                <a:spcPts val="2668"/>
              </a:lnSpc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MSc. Roberto José Solís Guerrero - Programación Estructurada</a:t>
            </a:r>
          </a:p>
          <a:p>
            <a:pPr algn="l" marL="411592" indent="-205796" lvl="1">
              <a:lnSpc>
                <a:spcPts val="2668"/>
              </a:lnSpc>
              <a:spcBef>
                <a:spcPct val="0"/>
              </a:spcBef>
              <a:buFont typeface="Arial"/>
              <a:buChar char="•"/>
            </a:pPr>
            <a:r>
              <a:rPr lang="en-US" sz="1906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MSc. Gerardo Mendoza Jiménez - Historia e Identidad Nacional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366232" y="326296"/>
            <a:ext cx="6523274" cy="176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91C59"/>
                </a:solidFill>
                <a:latin typeface="Mardoto Medium"/>
                <a:ea typeface="Mardoto Medium"/>
                <a:cs typeface="Mardoto Medium"/>
                <a:sym typeface="Mardoto Medium"/>
              </a:rPr>
              <a:t>ÁREA DEL CONOCIMIENTO DE CIENCIAS BÁSICAS Y TECNOLOGÍA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91C59"/>
                </a:solidFill>
                <a:latin typeface="Mardoto Medium"/>
                <a:ea typeface="Mardoto Medium"/>
                <a:cs typeface="Mardoto Medium"/>
                <a:sym typeface="Mardoto Medium"/>
              </a:rPr>
              <a:t>DEPARTAMENTO DOCENTE DE COMPUTACIÓN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97290" y="2210108"/>
            <a:ext cx="9186499" cy="2012941"/>
            <a:chOff x="0" y="0"/>
            <a:chExt cx="2419489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9489" cy="530157"/>
            </a:xfrm>
            <a:custGeom>
              <a:avLst/>
              <a:gdLst/>
              <a:ahLst/>
              <a:cxnLst/>
              <a:rect r="r" b="b" t="t" l="l"/>
              <a:pathLst>
                <a:path h="530157" w="2419489">
                  <a:moveTo>
                    <a:pt x="0" y="0"/>
                  </a:moveTo>
                  <a:lnTo>
                    <a:pt x="2419489" y="0"/>
                  </a:lnTo>
                  <a:lnTo>
                    <a:pt x="2419489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19489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94938" y="2395281"/>
            <a:ext cx="9698125" cy="168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0"/>
              </a:lnSpc>
            </a:pPr>
            <a:r>
              <a:rPr lang="en-US" b="true" sz="10870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ÍNDICE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7537139" y="-11024938"/>
            <a:ext cx="3086100" cy="21287411"/>
            <a:chOff x="0" y="0"/>
            <a:chExt cx="812800" cy="56065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606561"/>
            </a:xfrm>
            <a:custGeom>
              <a:avLst/>
              <a:gdLst/>
              <a:ahLst/>
              <a:cxnLst/>
              <a:rect r="r" b="b" t="t" l="l"/>
              <a:pathLst>
                <a:path h="560656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606561"/>
                  </a:lnTo>
                  <a:lnTo>
                    <a:pt x="0" y="5606561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5654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4516913"/>
            <a:ext cx="5758564" cy="560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-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Introducción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-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Objetivos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-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Nombre del emprendimiento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-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Misión y Visión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-4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Valores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16999532" y="-87300"/>
            <a:ext cx="204131" cy="1145622"/>
            <a:chOff x="0" y="0"/>
            <a:chExt cx="272175" cy="152749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886994" y="4516913"/>
            <a:ext cx="6641793" cy="560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29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Análisis FODA Árbol de problema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29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Línea gráfica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29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Lean Canva</a:t>
            </a:r>
          </a:p>
          <a:p>
            <a:pPr algn="l" marL="1002162" indent="-501081" lvl="1">
              <a:lnSpc>
                <a:spcPts val="7426"/>
              </a:lnSpc>
              <a:buAutoNum type="arabicPeriod" startAt="1"/>
            </a:pPr>
            <a:r>
              <a:rPr lang="en-US" sz="4641" spc="29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Prototipo del primer producto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01489" y="1208667"/>
            <a:ext cx="10285021" cy="1527566"/>
            <a:chOff x="0" y="0"/>
            <a:chExt cx="3393842" cy="504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3842" cy="504065"/>
            </a:xfrm>
            <a:custGeom>
              <a:avLst/>
              <a:gdLst/>
              <a:ahLst/>
              <a:cxnLst/>
              <a:rect r="r" b="b" t="t" l="l"/>
              <a:pathLst>
                <a:path h="504065" w="3393842">
                  <a:moveTo>
                    <a:pt x="0" y="0"/>
                  </a:moveTo>
                  <a:lnTo>
                    <a:pt x="3393842" y="0"/>
                  </a:lnTo>
                  <a:lnTo>
                    <a:pt x="3393842" y="504065"/>
                  </a:lnTo>
                  <a:lnTo>
                    <a:pt x="0" y="504065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93842" cy="551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306415" cy="1409933"/>
            <a:chOff x="0" y="0"/>
            <a:chExt cx="476073" cy="5137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53889" y="1348373"/>
            <a:ext cx="9955151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INTRODUCCIÓN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98282" y="3191256"/>
            <a:ext cx="13691435" cy="495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El presente documento expone un emprendimiento académico centrado en el uso de la Ciencia de Datos y el desarrollo de aplicaciones móviles como herramientas tecnológicas para impulsar la promoción de la cultura, las tradiciones y el turismo en Nicaragua.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A lo largo de este trabajo se aborda la problemática actual referente a la limitada difusión digital en el sector turístico y se desarrolla una propuesta conceptual para mitigarla. Para estructurar la propuesta, se presentan los objetivos del proyecto, un diagnóstico situacional mediante el árbol de problemas y el análisis FODA, así como la modelación del negocio a través del lienzo Lean Canvas y su línea gráfica.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571692" y="715484"/>
            <a:ext cx="204131" cy="1145622"/>
            <a:chOff x="0" y="0"/>
            <a:chExt cx="272175" cy="15274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4851253" y="9409711"/>
            <a:ext cx="4046056" cy="2430717"/>
            <a:chOff x="0" y="0"/>
            <a:chExt cx="1065628" cy="6401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4046056" cy="2430717"/>
            <a:chOff x="0" y="0"/>
            <a:chExt cx="1065628" cy="640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00635" y="-381233"/>
            <a:ext cx="1306415" cy="1409933"/>
            <a:chOff x="0" y="0"/>
            <a:chExt cx="476073" cy="5137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468107" y="8794694"/>
            <a:ext cx="348939" cy="2019386"/>
            <a:chOff x="0" y="0"/>
            <a:chExt cx="465252" cy="26925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65252" cy="479763"/>
              <a:chOff x="0" y="0"/>
              <a:chExt cx="788217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882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88217">
                    <a:moveTo>
                      <a:pt x="394108" y="0"/>
                    </a:moveTo>
                    <a:cubicBezTo>
                      <a:pt x="176448" y="0"/>
                      <a:pt x="0" y="181951"/>
                      <a:pt x="0" y="406400"/>
                    </a:cubicBezTo>
                    <a:cubicBezTo>
                      <a:pt x="0" y="630849"/>
                      <a:pt x="176448" y="812800"/>
                      <a:pt x="394108" y="812800"/>
                    </a:cubicBezTo>
                    <a:cubicBezTo>
                      <a:pt x="611768" y="812800"/>
                      <a:pt x="788217" y="630849"/>
                      <a:pt x="788217" y="406400"/>
                    </a:cubicBezTo>
                    <a:cubicBezTo>
                      <a:pt x="788217" y="181951"/>
                      <a:pt x="611768" y="0"/>
                      <a:pt x="394108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3895" y="28575"/>
                <a:ext cx="640426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106376"/>
              <a:ext cx="465252" cy="479763"/>
              <a:chOff x="0" y="0"/>
              <a:chExt cx="788217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882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88217">
                    <a:moveTo>
                      <a:pt x="394108" y="0"/>
                    </a:moveTo>
                    <a:cubicBezTo>
                      <a:pt x="176448" y="0"/>
                      <a:pt x="0" y="181951"/>
                      <a:pt x="0" y="406400"/>
                    </a:cubicBezTo>
                    <a:cubicBezTo>
                      <a:pt x="0" y="630849"/>
                      <a:pt x="176448" y="812800"/>
                      <a:pt x="394108" y="812800"/>
                    </a:cubicBezTo>
                    <a:cubicBezTo>
                      <a:pt x="611768" y="812800"/>
                      <a:pt x="788217" y="630849"/>
                      <a:pt x="788217" y="406400"/>
                    </a:cubicBezTo>
                    <a:cubicBezTo>
                      <a:pt x="788217" y="181951"/>
                      <a:pt x="611768" y="0"/>
                      <a:pt x="394108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3895" y="28575"/>
                <a:ext cx="640426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2212752"/>
              <a:ext cx="465252" cy="479763"/>
              <a:chOff x="0" y="0"/>
              <a:chExt cx="788217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882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88217">
                    <a:moveTo>
                      <a:pt x="394108" y="0"/>
                    </a:moveTo>
                    <a:cubicBezTo>
                      <a:pt x="176448" y="0"/>
                      <a:pt x="0" y="181951"/>
                      <a:pt x="0" y="406400"/>
                    </a:cubicBezTo>
                    <a:cubicBezTo>
                      <a:pt x="0" y="630849"/>
                      <a:pt x="176448" y="812800"/>
                      <a:pt x="394108" y="812800"/>
                    </a:cubicBezTo>
                    <a:cubicBezTo>
                      <a:pt x="611768" y="812800"/>
                      <a:pt x="788217" y="630849"/>
                      <a:pt x="788217" y="406400"/>
                    </a:cubicBezTo>
                    <a:cubicBezTo>
                      <a:pt x="788217" y="181951"/>
                      <a:pt x="611768" y="0"/>
                      <a:pt x="394108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3895" y="28575"/>
                <a:ext cx="640426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4855958" y="957116"/>
            <a:ext cx="8576084" cy="1622163"/>
            <a:chOff x="0" y="0"/>
            <a:chExt cx="2829928" cy="535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29928" cy="535280"/>
            </a:xfrm>
            <a:custGeom>
              <a:avLst/>
              <a:gdLst/>
              <a:ahLst/>
              <a:cxnLst/>
              <a:rect r="r" b="b" t="t" l="l"/>
              <a:pathLst>
                <a:path h="535280" w="2829928">
                  <a:moveTo>
                    <a:pt x="0" y="0"/>
                  </a:moveTo>
                  <a:lnTo>
                    <a:pt x="2829928" y="0"/>
                  </a:lnTo>
                  <a:lnTo>
                    <a:pt x="2829928" y="535280"/>
                  </a:lnTo>
                  <a:lnTo>
                    <a:pt x="0" y="535280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829928" cy="582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855958" y="1096823"/>
            <a:ext cx="8576084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804901" y="2839859"/>
            <a:ext cx="1500498" cy="1171648"/>
            <a:chOff x="0" y="0"/>
            <a:chExt cx="678958" cy="5301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457353" y="2988478"/>
            <a:ext cx="2195593" cy="97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b="true" sz="6327" spc="34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77484" y="2839859"/>
            <a:ext cx="1500498" cy="1171648"/>
            <a:chOff x="0" y="0"/>
            <a:chExt cx="678958" cy="5301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707452" y="2925262"/>
            <a:ext cx="2195593" cy="97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b="true" sz="6327" spc="34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02720" y="3259320"/>
            <a:ext cx="4398905" cy="44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649" indent="-308324" lvl="1">
              <a:lnSpc>
                <a:spcPts val="3513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 general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1742" y="3135983"/>
            <a:ext cx="4398905" cy="8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649" indent="-308324" lvl="1">
              <a:lnSpc>
                <a:spcPts val="3513"/>
              </a:lnSpc>
              <a:buFont typeface="Arial"/>
              <a:buChar char="•"/>
            </a:pPr>
            <a:r>
              <a:rPr lang="en-US" b="true" sz="285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Objetivos específicos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6415" y="4196424"/>
            <a:ext cx="5494320" cy="112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8"/>
              </a:lnSpc>
              <a:spcBef>
                <a:spcPct val="0"/>
              </a:spcBef>
            </a:pPr>
            <a:r>
              <a:rPr lang="en-US" sz="164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Desarrollar el e</a:t>
            </a:r>
            <a:r>
              <a:rPr lang="en-US" sz="1642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mprendimiento tecnológico "Güensebs", enfocado en la creación de aplicaciones móviles para la preservación, promoción y difusión del patrimonio cultural, gastronómico y turístico de Nicaragua.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77484" y="4186899"/>
            <a:ext cx="6923150" cy="624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181" indent="-17559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Desarrollar la lógica modular del sistema utilizando Python y Clases de Datos (Data Clases) para organizar y gestionar la información de los lugares turísticos y platillos tradicionales.</a:t>
            </a:r>
          </a:p>
          <a:p>
            <a:pPr algn="l">
              <a:lnSpc>
                <a:spcPts val="2277"/>
              </a:lnSpc>
            </a:pPr>
          </a:p>
          <a:p>
            <a:pPr algn="l" marL="351181" indent="-175591" lvl="1">
              <a:lnSpc>
                <a:spcPts val="2277"/>
              </a:lnSpc>
              <a:spcBef>
                <a:spcPct val="0"/>
              </a:spcBef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Investigar y sistem</a:t>
            </a: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atizar los c</a:t>
            </a: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ontenidos gastronómicos, históricos y folclóricos de Nicaragua para garantizar la autenticidad, preservación y rescate del patrimonio cultural dentro de la plataforma.</a:t>
            </a:r>
          </a:p>
          <a:p>
            <a:pPr algn="l">
              <a:lnSpc>
                <a:spcPts val="2277"/>
              </a:lnSpc>
              <a:spcBef>
                <a:spcPct val="0"/>
              </a:spcBef>
            </a:pPr>
          </a:p>
          <a:p>
            <a:pPr algn="l" marL="351181" indent="-175591" lvl="1">
              <a:lnSpc>
                <a:spcPts val="2277"/>
              </a:lnSpc>
              <a:spcBef>
                <a:spcPct val="0"/>
              </a:spcBef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Formular el plan de emprendimiento de "Güensebs" mediante la integración de herramientas de gestión (Lean Canvas y FODA) para validar la viabilidad del proyecto como una solución de software orientada al sector cultural.</a:t>
            </a:r>
          </a:p>
          <a:p>
            <a:pPr algn="l">
              <a:lnSpc>
                <a:spcPts val="2277"/>
              </a:lnSpc>
              <a:spcBef>
                <a:spcPct val="0"/>
              </a:spcBef>
            </a:pPr>
          </a:p>
          <a:p>
            <a:pPr algn="l" marL="351181" indent="-175591" lvl="1">
              <a:lnSpc>
                <a:spcPts val="2277"/>
              </a:lnSpc>
              <a:spcBef>
                <a:spcPct val="0"/>
              </a:spcBef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Aplicar elementos de lógica matemática y condicionales simples para respaldar la validación y estructuración de los datos durante la ejecución del prototipo del software.</a:t>
            </a:r>
          </a:p>
          <a:p>
            <a:pPr algn="l">
              <a:lnSpc>
                <a:spcPts val="2277"/>
              </a:lnSpc>
              <a:spcBef>
                <a:spcPct val="0"/>
              </a:spcBef>
            </a:pPr>
          </a:p>
          <a:p>
            <a:pPr algn="l" marL="351181" indent="-175591" lvl="1">
              <a:lnSpc>
                <a:spcPts val="2277"/>
              </a:lnSpc>
              <a:spcBef>
                <a:spcPct val="0"/>
              </a:spcBef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Coordinar los conocimientos del primer corte evaluativo para la formulación del emprendimiento, unificando la investigación cultural, la arquitectura de software y la estrategia de negocio en una solución tecnológica para la preservación de la identidad nicaragüense.</a:t>
            </a:r>
          </a:p>
          <a:p>
            <a:pPr algn="just">
              <a:lnSpc>
                <a:spcPts val="19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3208" y="1207659"/>
            <a:ext cx="10796263" cy="2781049"/>
            <a:chOff x="0" y="0"/>
            <a:chExt cx="3562541" cy="917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62541" cy="917688"/>
            </a:xfrm>
            <a:custGeom>
              <a:avLst/>
              <a:gdLst/>
              <a:ahLst/>
              <a:cxnLst/>
              <a:rect r="r" b="b" t="t" l="l"/>
              <a:pathLst>
                <a:path h="917688" w="3562541">
                  <a:moveTo>
                    <a:pt x="0" y="0"/>
                  </a:moveTo>
                  <a:lnTo>
                    <a:pt x="3562541" y="0"/>
                  </a:lnTo>
                  <a:lnTo>
                    <a:pt x="3562541" y="917688"/>
                  </a:lnTo>
                  <a:lnTo>
                    <a:pt x="0" y="917688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62541" cy="965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993077" y="-653515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258300"/>
            <a:ext cx="1306415" cy="1409933"/>
            <a:chOff x="0" y="0"/>
            <a:chExt cx="476073" cy="513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67786" y="1283859"/>
            <a:ext cx="5691514" cy="7719283"/>
            <a:chOff x="0" y="0"/>
            <a:chExt cx="881764" cy="11959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1764" cy="1195919"/>
            </a:xfrm>
            <a:custGeom>
              <a:avLst/>
              <a:gdLst/>
              <a:ahLst/>
              <a:cxnLst/>
              <a:rect r="r" b="b" t="t" l="l"/>
              <a:pathLst>
                <a:path h="1195919" w="881764">
                  <a:moveTo>
                    <a:pt x="0" y="0"/>
                  </a:moveTo>
                  <a:lnTo>
                    <a:pt x="881764" y="0"/>
                  </a:lnTo>
                  <a:lnTo>
                    <a:pt x="881764" y="1195919"/>
                  </a:lnTo>
                  <a:lnTo>
                    <a:pt x="0" y="1195919"/>
                  </a:lnTo>
                  <a:close/>
                </a:path>
              </a:pathLst>
            </a:custGeom>
            <a:blipFill>
              <a:blip r:embed="rId2"/>
              <a:stretch>
                <a:fillRect l="0" t="-5298" r="0" b="-5298"/>
              </a:stretch>
            </a:blipFill>
            <a:ln w="85725" cap="sq">
              <a:solidFill>
                <a:srgbClr val="EDED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-5400000">
            <a:off x="1239612" y="-1000"/>
            <a:ext cx="204131" cy="1145622"/>
            <a:chOff x="0" y="0"/>
            <a:chExt cx="272175" cy="15274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33" id="33"/>
          <p:cNvSpPr txBox="true"/>
          <p:nvPr/>
        </p:nvSpPr>
        <p:spPr>
          <a:xfrm rot="0">
            <a:off x="1181100" y="1347365"/>
            <a:ext cx="9955151" cy="248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00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NOMBRE DEL EMPRENDIMIENTO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1677" y="6000750"/>
            <a:ext cx="8005703" cy="198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Güensebs es una microempresa desarrolladora de software que mediante la creación de aplicaciones móviles busca promover la cultura y tradiciones de Nicaragua en el extranjero.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1892680" y="3988707"/>
            <a:ext cx="11449610" cy="155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u="sng">
                <a:solidFill>
                  <a:srgbClr val="FFFFFF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“Güensebs”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0624" y="4044178"/>
            <a:ext cx="6933348" cy="11669292"/>
            <a:chOff x="0" y="0"/>
            <a:chExt cx="1826067" cy="3073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6067" cy="3073394"/>
            </a:xfrm>
            <a:custGeom>
              <a:avLst/>
              <a:gdLst/>
              <a:ahLst/>
              <a:cxnLst/>
              <a:rect r="r" b="b" t="t" l="l"/>
              <a:pathLst>
                <a:path h="3073394" w="1826067">
                  <a:moveTo>
                    <a:pt x="0" y="0"/>
                  </a:moveTo>
                  <a:lnTo>
                    <a:pt x="1826067" y="0"/>
                  </a:lnTo>
                  <a:lnTo>
                    <a:pt x="1826067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6067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54029" y="4044178"/>
            <a:ext cx="6933348" cy="11669292"/>
            <a:chOff x="0" y="0"/>
            <a:chExt cx="1826067" cy="30733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6067" cy="3073394"/>
            </a:xfrm>
            <a:custGeom>
              <a:avLst/>
              <a:gdLst/>
              <a:ahLst/>
              <a:cxnLst/>
              <a:rect r="r" b="b" t="t" l="l"/>
              <a:pathLst>
                <a:path h="3073394" w="1826067">
                  <a:moveTo>
                    <a:pt x="0" y="0"/>
                  </a:moveTo>
                  <a:lnTo>
                    <a:pt x="1826067" y="0"/>
                  </a:lnTo>
                  <a:lnTo>
                    <a:pt x="1826067" y="3073394"/>
                  </a:lnTo>
                  <a:lnTo>
                    <a:pt x="0" y="3073394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6067" cy="3121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91099" y="1512138"/>
            <a:ext cx="14486752" cy="2012941"/>
            <a:chOff x="0" y="0"/>
            <a:chExt cx="3815441" cy="5301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5441" cy="530157"/>
            </a:xfrm>
            <a:custGeom>
              <a:avLst/>
              <a:gdLst/>
              <a:ahLst/>
              <a:cxnLst/>
              <a:rect r="r" b="b" t="t" l="l"/>
              <a:pathLst>
                <a:path h="530157" w="3815441">
                  <a:moveTo>
                    <a:pt x="0" y="0"/>
                  </a:moveTo>
                  <a:lnTo>
                    <a:pt x="3815441" y="0"/>
                  </a:lnTo>
                  <a:lnTo>
                    <a:pt x="3815441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815441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454029" y="4044178"/>
            <a:ext cx="6923823" cy="6529373"/>
          </a:xfrm>
          <a:custGeom>
            <a:avLst/>
            <a:gdLst/>
            <a:ahLst/>
            <a:cxnLst/>
            <a:rect r="r" b="b" t="t" l="l"/>
            <a:pathLst>
              <a:path h="6529373" w="6923823">
                <a:moveTo>
                  <a:pt x="0" y="0"/>
                </a:moveTo>
                <a:lnTo>
                  <a:pt x="6923822" y="0"/>
                </a:lnTo>
                <a:lnTo>
                  <a:pt x="6923822" y="6529373"/>
                </a:lnTo>
                <a:lnTo>
                  <a:pt x="0" y="6529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39" t="0" r="-5591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00624" y="4044178"/>
            <a:ext cx="6933348" cy="6218290"/>
          </a:xfrm>
          <a:custGeom>
            <a:avLst/>
            <a:gdLst/>
            <a:ahLst/>
            <a:cxnLst/>
            <a:rect r="r" b="b" t="t" l="l"/>
            <a:pathLst>
              <a:path h="6218290" w="6933348">
                <a:moveTo>
                  <a:pt x="0" y="0"/>
                </a:moveTo>
                <a:lnTo>
                  <a:pt x="6933347" y="0"/>
                </a:lnTo>
                <a:lnTo>
                  <a:pt x="6933347" y="6218290"/>
                </a:lnTo>
                <a:lnTo>
                  <a:pt x="0" y="6218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611" t="0" r="-15282" b="-745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00624" y="1821136"/>
            <a:ext cx="14486752" cy="134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b="true" sz="87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MISIÓN Y VISIÓN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6331" y="5607434"/>
            <a:ext cx="6315633" cy="305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0"/>
              </a:lnSpc>
            </a:pPr>
            <a:r>
              <a:rPr lang="en-US" b="true" sz="2320" spc="25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Desarrollar aplicaciones móviles innovadoras y accesibles que permitan promover y dar a conocer la cultura, las tradiciones, la historia, la gastronomía y los principales atractivos de Nicaragua a personas dentro y fuera del país. Güensebs busca utilizar la tecnología como una herramienta para preservar y difundir nuestra identidad cultural.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88770" y="5607209"/>
            <a:ext cx="6054339" cy="305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9"/>
              </a:lnSpc>
            </a:pPr>
            <a:r>
              <a:rPr lang="en-US" b="true" sz="2304" spc="25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P</a:t>
            </a:r>
            <a:r>
              <a:rPr lang="en-US" b="true" sz="2304" spc="25">
                <a:solidFill>
                  <a:srgbClr val="FFFFFF"/>
                </a:solidFill>
                <a:latin typeface="Mardoto Bold"/>
                <a:ea typeface="Mardoto Bold"/>
                <a:cs typeface="Mardoto Bold"/>
                <a:sym typeface="Mardoto Bold"/>
              </a:rPr>
              <a:t>ara el año 2032, consolidarnos como una empresa nicaragüense líder a nivel nacional e internacional, reconocida por transformar la cultura y las tradiciones del país en soluciones tecnológicas innovadoras. Aspiramos a ser el referente global en el desarrollo de aplicaciones móviles que proyecten la identidad nicaragüense.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39576" y="4641723"/>
            <a:ext cx="5829144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Misión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4029" y="4632198"/>
            <a:ext cx="5771817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 u="sng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Visión</a:t>
            </a:r>
          </a:p>
        </p:txBody>
      </p:sp>
      <p:grpSp>
        <p:nvGrpSpPr>
          <p:cNvPr name="Group 18" id="18"/>
          <p:cNvGrpSpPr/>
          <p:nvPr/>
        </p:nvGrpSpPr>
        <p:grpSpPr>
          <a:xfrm rot="5400000">
            <a:off x="1993077" y="-6535153"/>
            <a:ext cx="3086100" cy="12041606"/>
            <a:chOff x="0" y="0"/>
            <a:chExt cx="812800" cy="31714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239612" y="-1000"/>
            <a:ext cx="204131" cy="1145622"/>
            <a:chOff x="0" y="0"/>
            <a:chExt cx="272175" cy="152749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0" y="9258300"/>
            <a:ext cx="1306415" cy="1409933"/>
            <a:chOff x="0" y="0"/>
            <a:chExt cx="476073" cy="5137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6044" y="1127760"/>
            <a:ext cx="8085661" cy="1743707"/>
            <a:chOff x="0" y="0"/>
            <a:chExt cx="245836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8368" cy="530157"/>
            </a:xfrm>
            <a:custGeom>
              <a:avLst/>
              <a:gdLst/>
              <a:ahLst/>
              <a:cxnLst/>
              <a:rect r="r" b="b" t="t" l="l"/>
              <a:pathLst>
                <a:path h="530157" w="2458368">
                  <a:moveTo>
                    <a:pt x="0" y="0"/>
                  </a:moveTo>
                  <a:lnTo>
                    <a:pt x="2458368" y="0"/>
                  </a:lnTo>
                  <a:lnTo>
                    <a:pt x="245836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5836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-381233"/>
            <a:ext cx="1306415" cy="1409933"/>
            <a:chOff x="0" y="0"/>
            <a:chExt cx="476073" cy="513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51253" y="9409711"/>
            <a:ext cx="4046056" cy="2430717"/>
            <a:chOff x="0" y="0"/>
            <a:chExt cx="1065628" cy="640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66874" y="2604767"/>
            <a:ext cx="4798340" cy="765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61"/>
              </a:lnSpc>
              <a:spcBef>
                <a:spcPct val="0"/>
              </a:spcBef>
            </a:pP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Respeto.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Ética.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Empatía.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Tolerancia.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Integridad.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Honestidad.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Solidaridad.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Compromiso.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Inclusión</a:t>
            </a:r>
          </a:p>
          <a:p>
            <a:pPr algn="just" marL="780542" indent="-390271" lvl="1">
              <a:lnSpc>
                <a:spcPts val="5061"/>
              </a:lnSpc>
              <a:spcBef>
                <a:spcPct val="0"/>
              </a:spcBef>
              <a:buFont typeface="Arial"/>
              <a:buChar char="•"/>
            </a:pPr>
            <a:r>
              <a:rPr lang="en-US" sz="3615">
                <a:solidFill>
                  <a:srgbClr val="FFFFFF"/>
                </a:solidFill>
                <a:latin typeface="Mardoto"/>
                <a:ea typeface="Mardoto"/>
                <a:cs typeface="Mardoto"/>
                <a:sym typeface="Mardoto"/>
              </a:rPr>
              <a:t>Amor a Nicaragua.</a:t>
            </a:r>
          </a:p>
          <a:p>
            <a:pPr algn="just">
              <a:lnSpc>
                <a:spcPts val="5061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-10800000">
            <a:off x="571692" y="715484"/>
            <a:ext cx="204131" cy="1145622"/>
            <a:chOff x="0" y="0"/>
            <a:chExt cx="272175" cy="152749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588478" y="3553442"/>
            <a:ext cx="4964299" cy="5704858"/>
            <a:chOff x="0" y="0"/>
            <a:chExt cx="996494" cy="11451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6494" cy="1145148"/>
            </a:xfrm>
            <a:custGeom>
              <a:avLst/>
              <a:gdLst/>
              <a:ahLst/>
              <a:cxnLst/>
              <a:rect r="r" b="b" t="t" l="l"/>
              <a:pathLst>
                <a:path h="1145148" w="996494">
                  <a:moveTo>
                    <a:pt x="0" y="0"/>
                  </a:moveTo>
                  <a:lnTo>
                    <a:pt x="996494" y="0"/>
                  </a:lnTo>
                  <a:lnTo>
                    <a:pt x="996494" y="1145148"/>
                  </a:lnTo>
                  <a:lnTo>
                    <a:pt x="0" y="1145148"/>
                  </a:lnTo>
                  <a:close/>
                </a:path>
              </a:pathLst>
            </a:custGeom>
            <a:blipFill>
              <a:blip r:embed="rId2"/>
              <a:stretch>
                <a:fillRect l="-36080" t="0" r="-36080" b="0"/>
              </a:stretch>
            </a:blipFill>
            <a:ln w="85725" cap="sq">
              <a:solidFill>
                <a:srgbClr val="EDED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6647243" y="1357926"/>
            <a:ext cx="6001762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b="true" sz="857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VALORES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4608" y="2581357"/>
            <a:ext cx="1733662" cy="1353711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87077" y="2682991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91237" y="4150653"/>
            <a:ext cx="6116676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ominio de técnicas de diseño de interfaces de usuario.</a:t>
            </a:r>
          </a:p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Aprendizaje constante del lenguajes de programación.</a:t>
            </a:r>
          </a:p>
          <a:p>
            <a:pPr algn="just">
              <a:lnSpc>
                <a:spcPts val="3082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690365" y="2581357"/>
            <a:ext cx="1733662" cy="1353711"/>
            <a:chOff x="0" y="0"/>
            <a:chExt cx="678958" cy="5301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62834" y="2682991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3705" y="4150653"/>
            <a:ext cx="6148669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In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experiencia en la administración de microempresas.</a:t>
            </a:r>
          </a:p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Tiempo limitado por las obligaciones universitarias.</a:t>
            </a:r>
          </a:p>
          <a:p>
            <a:pPr algn="just">
              <a:lnSpc>
                <a:spcPts val="308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3014608" y="6726979"/>
            <a:ext cx="1733662" cy="1353711"/>
            <a:chOff x="0" y="0"/>
            <a:chExt cx="678958" cy="530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87077" y="6828612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1237" y="8283510"/>
            <a:ext cx="6116676" cy="193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P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oca competencia enfocada en el sector turístico.</a:t>
            </a:r>
          </a:p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Necesidad real de promoción de la cultura y tradiciones de Nicaragua.</a:t>
            </a:r>
          </a:p>
          <a:p>
            <a:pPr algn="just">
              <a:lnSpc>
                <a:spcPts val="3082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9664387" y="6726979"/>
            <a:ext cx="1733662" cy="1353711"/>
            <a:chOff x="0" y="0"/>
            <a:chExt cx="678958" cy="530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236855" y="6828612"/>
            <a:ext cx="2536767" cy="113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b="true" sz="7310" spc="402">
                <a:solidFill>
                  <a:srgbClr val="191C59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3705" y="8283510"/>
            <a:ext cx="6148669" cy="154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M</a:t>
            </a: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ercado moderno e impopular.</a:t>
            </a:r>
          </a:p>
          <a:p>
            <a:pPr algn="just" marL="475425" indent="-237713" lvl="1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2">
                <a:solidFill>
                  <a:srgbClr val="191C59"/>
                </a:solidFill>
                <a:latin typeface="Mardoto"/>
                <a:ea typeface="Mardoto"/>
                <a:cs typeface="Mardoto"/>
                <a:sym typeface="Mardoto"/>
              </a:rPr>
              <a:t>Desinterés hacia la cultura nicaragüense por parte de los turistas.</a:t>
            </a:r>
          </a:p>
          <a:p>
            <a:pPr algn="just">
              <a:lnSpc>
                <a:spcPts val="3082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16958223" y="-877303"/>
            <a:ext cx="3086100" cy="12041606"/>
            <a:chOff x="0" y="0"/>
            <a:chExt cx="812800" cy="31714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7539248" y="8439068"/>
            <a:ext cx="204131" cy="1145622"/>
            <a:chOff x="0" y="0"/>
            <a:chExt cx="272175" cy="152749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48" id="48"/>
          <p:cNvSpPr txBox="true"/>
          <p:nvPr/>
        </p:nvSpPr>
        <p:spPr>
          <a:xfrm rot="0">
            <a:off x="4581933" y="2924976"/>
            <a:ext cx="5082453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Fortaleza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55062" y="2924976"/>
            <a:ext cx="5082453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Debilidades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41251" y="7394309"/>
            <a:ext cx="5082453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Oportunidades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55062" y="7394309"/>
            <a:ext cx="5082453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058"/>
              </a:lnSpc>
              <a:buFont typeface="Arial"/>
              <a:buChar char="•"/>
            </a:pPr>
            <a:r>
              <a:rPr lang="en-US" b="true" sz="3300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Amenazas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4028844" y="142192"/>
            <a:ext cx="10554188" cy="1743707"/>
            <a:chOff x="0" y="0"/>
            <a:chExt cx="3208899" cy="5301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08899" cy="530157"/>
            </a:xfrm>
            <a:custGeom>
              <a:avLst/>
              <a:gdLst/>
              <a:ahLst/>
              <a:cxnLst/>
              <a:rect r="r" b="b" t="t" l="l"/>
              <a:pathLst>
                <a:path h="530157" w="3208899">
                  <a:moveTo>
                    <a:pt x="0" y="0"/>
                  </a:moveTo>
                  <a:lnTo>
                    <a:pt x="3208899" y="0"/>
                  </a:lnTo>
                  <a:lnTo>
                    <a:pt x="3208899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191C59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208899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4253765" y="372358"/>
            <a:ext cx="10028360" cy="131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b="true" sz="8575">
                <a:solidFill>
                  <a:srgbClr val="2B32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ANÁLISIS FODA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00">
            <a:off x="-8963" y="-15951"/>
            <a:ext cx="18305926" cy="10318903"/>
          </a:xfrm>
          <a:custGeom>
            <a:avLst/>
            <a:gdLst/>
            <a:ahLst/>
            <a:cxnLst/>
            <a:rect r="r" b="b" t="t" l="l"/>
            <a:pathLst>
              <a:path h="10318903" w="18305926">
                <a:moveTo>
                  <a:pt x="0" y="31918"/>
                </a:moveTo>
                <a:lnTo>
                  <a:pt x="18287972" y="0"/>
                </a:lnTo>
                <a:lnTo>
                  <a:pt x="18305926" y="10286984"/>
                </a:lnTo>
                <a:lnTo>
                  <a:pt x="17954" y="10318902"/>
                </a:lnTo>
                <a:lnTo>
                  <a:pt x="0" y="31918"/>
                </a:lnTo>
                <a:close/>
              </a:path>
            </a:pathLst>
          </a:custGeom>
          <a:blipFill>
            <a:blip r:embed="rId2"/>
            <a:stretch>
              <a:fillRect l="-3747" t="-30040" r="-1618" b="-10149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954614" y="-5496690"/>
            <a:ext cx="2600011" cy="9478591"/>
            <a:chOff x="0" y="0"/>
            <a:chExt cx="684777" cy="2496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777" cy="2496419"/>
            </a:xfrm>
            <a:custGeom>
              <a:avLst/>
              <a:gdLst/>
              <a:ahLst/>
              <a:cxnLst/>
              <a:rect r="r" b="b" t="t" l="l"/>
              <a:pathLst>
                <a:path h="2496419" w="684777">
                  <a:moveTo>
                    <a:pt x="0" y="0"/>
                  </a:moveTo>
                  <a:lnTo>
                    <a:pt x="684777" y="0"/>
                  </a:lnTo>
                  <a:lnTo>
                    <a:pt x="684777" y="2496419"/>
                  </a:lnTo>
                  <a:lnTo>
                    <a:pt x="0" y="249641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84777" cy="2544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239612" y="-265616"/>
            <a:ext cx="204131" cy="1145622"/>
            <a:chOff x="0" y="0"/>
            <a:chExt cx="272175" cy="152749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6687" y="9410700"/>
            <a:ext cx="1306415" cy="1409933"/>
            <a:chOff x="0" y="0"/>
            <a:chExt cx="476073" cy="5137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1034" y="1125764"/>
            <a:ext cx="11840829" cy="2012941"/>
            <a:chOff x="0" y="0"/>
            <a:chExt cx="3118572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8572" cy="530157"/>
            </a:xfrm>
            <a:custGeom>
              <a:avLst/>
              <a:gdLst/>
              <a:ahLst/>
              <a:cxnLst/>
              <a:rect r="r" b="b" t="t" l="l"/>
              <a:pathLst>
                <a:path h="530157" w="3118572">
                  <a:moveTo>
                    <a:pt x="0" y="0"/>
                  </a:moveTo>
                  <a:lnTo>
                    <a:pt x="3118572" y="0"/>
                  </a:lnTo>
                  <a:lnTo>
                    <a:pt x="3118572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18572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86231" y="44618"/>
            <a:ext cx="1001769" cy="1081147"/>
            <a:chOff x="0" y="0"/>
            <a:chExt cx="476073" cy="5137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7742" y="5104402"/>
            <a:ext cx="3185047" cy="2997692"/>
          </a:xfrm>
          <a:custGeom>
            <a:avLst/>
            <a:gdLst/>
            <a:ahLst/>
            <a:cxnLst/>
            <a:rect r="r" b="b" t="t" l="l"/>
            <a:pathLst>
              <a:path h="2997692" w="3185047">
                <a:moveTo>
                  <a:pt x="0" y="0"/>
                </a:moveTo>
                <a:lnTo>
                  <a:pt x="3185047" y="0"/>
                </a:lnTo>
                <a:lnTo>
                  <a:pt x="3185047" y="2997692"/>
                </a:lnTo>
                <a:lnTo>
                  <a:pt x="0" y="29976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</a:blip>
            <a:stretch>
              <a:fillRect l="-14788" t="-20951" r="-14657" b="-165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84836" y="4886642"/>
            <a:ext cx="3356523" cy="4475364"/>
          </a:xfrm>
          <a:custGeom>
            <a:avLst/>
            <a:gdLst/>
            <a:ahLst/>
            <a:cxnLst/>
            <a:rect r="r" b="b" t="t" l="l"/>
            <a:pathLst>
              <a:path h="4475364" w="3356523">
                <a:moveTo>
                  <a:pt x="0" y="0"/>
                </a:moveTo>
                <a:lnTo>
                  <a:pt x="3356523" y="0"/>
                </a:lnTo>
                <a:lnTo>
                  <a:pt x="3356523" y="4475364"/>
                </a:lnTo>
                <a:lnTo>
                  <a:pt x="0" y="4475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9362006"/>
            <a:ext cx="4046056" cy="2430717"/>
            <a:chOff x="0" y="0"/>
            <a:chExt cx="1065628" cy="6401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920963" y="9231724"/>
            <a:ext cx="204131" cy="1145622"/>
            <a:chOff x="0" y="0"/>
            <a:chExt cx="272175" cy="15274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1132344" y="1448856"/>
            <a:ext cx="15709245" cy="1347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b="true" sz="8771">
                <a:solidFill>
                  <a:srgbClr val="191C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LÍNEA GRÁFICA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3809" y="3995955"/>
            <a:ext cx="3751478" cy="36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838" indent="-254419" lvl="1">
              <a:lnSpc>
                <a:spcPts val="2710"/>
              </a:lnSpc>
              <a:buFont typeface="Arial"/>
              <a:buChar char="•"/>
            </a:pPr>
            <a:r>
              <a:rPr lang="en-US" b="true" sz="23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Logotipo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8605" y="4002124"/>
            <a:ext cx="3751478" cy="36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839" indent="-254419" lvl="1">
              <a:lnSpc>
                <a:spcPts val="2710"/>
              </a:lnSpc>
              <a:buFont typeface="Arial"/>
              <a:buChar char="•"/>
            </a:pPr>
            <a:r>
              <a:rPr lang="en-US" b="true" sz="23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Tipografía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75336" y="3995955"/>
            <a:ext cx="3166023" cy="36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839" indent="-254419" lvl="1">
              <a:lnSpc>
                <a:spcPts val="2710"/>
              </a:lnSpc>
              <a:buFont typeface="Arial"/>
              <a:buChar char="•"/>
            </a:pPr>
            <a:r>
              <a:rPr lang="en-US" b="true" sz="2356">
                <a:solidFill>
                  <a:srgbClr val="191C59"/>
                </a:solidFill>
                <a:latin typeface="Mardoto Bold"/>
                <a:ea typeface="Mardoto Bold"/>
                <a:cs typeface="Mardoto Bold"/>
                <a:sym typeface="Mardoto Bold"/>
              </a:rPr>
              <a:t>Paleta de colores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94945" y="4819967"/>
            <a:ext cx="869811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C59"/>
                </a:solidFill>
                <a:latin typeface="Montserrat"/>
                <a:ea typeface="Montserrat"/>
                <a:cs typeface="Montserrat"/>
                <a:sym typeface="Montserrat"/>
              </a:rPr>
              <a:t>Montserrat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C59"/>
                </a:solidFill>
                <a:latin typeface="Montserrat"/>
                <a:ea typeface="Montserrat"/>
                <a:cs typeface="Montserrat"/>
                <a:sym typeface="Montserrat"/>
              </a:rPr>
              <a:t>abcdefghijklmnñopqrstuüvwxyz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C59"/>
                </a:solidFill>
                <a:latin typeface="Montserrat"/>
                <a:ea typeface="Montserrat"/>
                <a:cs typeface="Montserrat"/>
                <a:sym typeface="Montserrat"/>
              </a:rPr>
              <a:t>ABCDEFGHIJKLMNÑOPQRSTUÜVWXYZ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C59"/>
                </a:solidFill>
                <a:latin typeface="Montserrat"/>
                <a:ea typeface="Montserrat"/>
                <a:cs typeface="Montserrat"/>
                <a:sym typeface="Montserrat"/>
              </a:rPr>
              <a:t>123456789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91C59"/>
                </a:solidFill>
                <a:latin typeface="Montserrat"/>
                <a:ea typeface="Montserrat"/>
                <a:cs typeface="Montserrat"/>
                <a:sym typeface="Montserrat"/>
              </a:rPr>
              <a:t>!”#$%&amp;/()=?¡¨*[:_;’¿´+}{.-_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91590" y="146197"/>
            <a:ext cx="7704819" cy="1138576"/>
            <a:chOff x="0" y="0"/>
            <a:chExt cx="2368030" cy="349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030" cy="349934"/>
            </a:xfrm>
            <a:custGeom>
              <a:avLst/>
              <a:gdLst/>
              <a:ahLst/>
              <a:cxnLst/>
              <a:rect r="r" b="b" t="t" l="l"/>
              <a:pathLst>
                <a:path h="349934" w="2368030">
                  <a:moveTo>
                    <a:pt x="0" y="0"/>
                  </a:moveTo>
                  <a:lnTo>
                    <a:pt x="2368030" y="0"/>
                  </a:lnTo>
                  <a:lnTo>
                    <a:pt x="2368030" y="349934"/>
                  </a:lnTo>
                  <a:lnTo>
                    <a:pt x="0" y="349934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68030" cy="397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571692" y="715484"/>
            <a:ext cx="204131" cy="1145622"/>
            <a:chOff x="0" y="0"/>
            <a:chExt cx="272175" cy="152749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7259300" y="-381233"/>
            <a:ext cx="1306415" cy="1409933"/>
            <a:chOff x="0" y="0"/>
            <a:chExt cx="476073" cy="5137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724770" y="1350191"/>
            <a:ext cx="12838461" cy="8936809"/>
          </a:xfrm>
          <a:custGeom>
            <a:avLst/>
            <a:gdLst/>
            <a:ahLst/>
            <a:cxnLst/>
            <a:rect r="r" b="b" t="t" l="l"/>
            <a:pathLst>
              <a:path h="8936809" w="12838461">
                <a:moveTo>
                  <a:pt x="0" y="0"/>
                </a:moveTo>
                <a:lnTo>
                  <a:pt x="12838460" y="0"/>
                </a:lnTo>
                <a:lnTo>
                  <a:pt x="12838460" y="8936809"/>
                </a:lnTo>
                <a:lnTo>
                  <a:pt x="0" y="893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851253" y="9409711"/>
            <a:ext cx="4046056" cy="2430717"/>
            <a:chOff x="0" y="0"/>
            <a:chExt cx="1065628" cy="6401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608707" y="117622"/>
            <a:ext cx="7070586" cy="116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4"/>
              </a:lnSpc>
            </a:pPr>
            <a:r>
              <a:rPr lang="en-US" b="true" sz="751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LEAN CANVA</a:t>
            </a:r>
          </a:p>
        </p:txBody>
      </p:sp>
      <p:grpSp>
        <p:nvGrpSpPr>
          <p:cNvPr name="Group 36" id="36"/>
          <p:cNvGrpSpPr/>
          <p:nvPr/>
        </p:nvGrpSpPr>
        <p:grpSpPr>
          <a:xfrm rot="5400000">
            <a:off x="16917798" y="9359055"/>
            <a:ext cx="204131" cy="1145622"/>
            <a:chOff x="0" y="0"/>
            <a:chExt cx="272175" cy="1527496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8200" y="400050"/>
            <a:ext cx="14564311" cy="2889871"/>
            <a:chOff x="0" y="0"/>
            <a:chExt cx="4428139" cy="878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8139" cy="878638"/>
            </a:xfrm>
            <a:custGeom>
              <a:avLst/>
              <a:gdLst/>
              <a:ahLst/>
              <a:cxnLst/>
              <a:rect r="r" b="b" t="t" l="l"/>
              <a:pathLst>
                <a:path h="878638" w="4428139">
                  <a:moveTo>
                    <a:pt x="0" y="0"/>
                  </a:moveTo>
                  <a:lnTo>
                    <a:pt x="4428139" y="0"/>
                  </a:lnTo>
                  <a:lnTo>
                    <a:pt x="4428139" y="878638"/>
                  </a:lnTo>
                  <a:lnTo>
                    <a:pt x="0" y="878638"/>
                  </a:lnTo>
                  <a:close/>
                </a:path>
              </a:pathLst>
            </a:custGeom>
            <a:ln w="104775" cap="sq">
              <a:solidFill>
                <a:srgbClr val="EDED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28139" cy="926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4901" y="3613771"/>
            <a:ext cx="1500498" cy="1171648"/>
            <a:chOff x="0" y="0"/>
            <a:chExt cx="678958" cy="5301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77484" y="3613771"/>
            <a:ext cx="1500498" cy="1171648"/>
            <a:chOff x="0" y="0"/>
            <a:chExt cx="678958" cy="5301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04901" y="5280719"/>
            <a:ext cx="6630945" cy="3483214"/>
          </a:xfrm>
          <a:custGeom>
            <a:avLst/>
            <a:gdLst/>
            <a:ahLst/>
            <a:cxnLst/>
            <a:rect r="r" b="b" t="t" l="l"/>
            <a:pathLst>
              <a:path h="3483214" w="6630945">
                <a:moveTo>
                  <a:pt x="0" y="0"/>
                </a:moveTo>
                <a:lnTo>
                  <a:pt x="6630944" y="0"/>
                </a:lnTo>
                <a:lnTo>
                  <a:pt x="6630944" y="3483214"/>
                </a:lnTo>
                <a:lnTo>
                  <a:pt x="0" y="3483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566" r="0" b="-6815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77484" y="5109269"/>
            <a:ext cx="5273003" cy="4866750"/>
          </a:xfrm>
          <a:custGeom>
            <a:avLst/>
            <a:gdLst/>
            <a:ahLst/>
            <a:cxnLst/>
            <a:rect r="r" b="b" t="t" l="l"/>
            <a:pathLst>
              <a:path h="4866750" w="5273003">
                <a:moveTo>
                  <a:pt x="0" y="0"/>
                </a:moveTo>
                <a:lnTo>
                  <a:pt x="5273003" y="0"/>
                </a:lnTo>
                <a:lnTo>
                  <a:pt x="5273003" y="4866750"/>
                </a:lnTo>
                <a:lnTo>
                  <a:pt x="0" y="48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630216"/>
            <a:ext cx="16230600" cy="26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8"/>
              </a:lnSpc>
            </a:pPr>
            <a:r>
              <a:rPr lang="en-US" b="true" sz="857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PROTOTIPO DEL PRIMER PRODUCTO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57353" y="3762391"/>
            <a:ext cx="2195593" cy="97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b="true" sz="6327" spc="34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7452" y="3699174"/>
            <a:ext cx="2195593" cy="97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b="true" sz="6327" spc="34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02720" y="3972924"/>
            <a:ext cx="4398905" cy="44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856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Arquitectura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9908" y="3810645"/>
            <a:ext cx="4398905" cy="8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856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Análisis de entidades del sistema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259300" y="-381233"/>
            <a:ext cx="1306415" cy="1409933"/>
            <a:chOff x="0" y="0"/>
            <a:chExt cx="476073" cy="5137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571692" y="715484"/>
            <a:ext cx="204131" cy="1145622"/>
            <a:chOff x="0" y="0"/>
            <a:chExt cx="272175" cy="152749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8352" y="436143"/>
            <a:ext cx="1500498" cy="1171648"/>
            <a:chOff x="0" y="0"/>
            <a:chExt cx="678958" cy="530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958" cy="530157"/>
            </a:xfrm>
            <a:custGeom>
              <a:avLst/>
              <a:gdLst/>
              <a:ahLst/>
              <a:cxnLst/>
              <a:rect r="r" b="b" t="t" l="l"/>
              <a:pathLst>
                <a:path h="530157" w="678958">
                  <a:moveTo>
                    <a:pt x="0" y="0"/>
                  </a:moveTo>
                  <a:lnTo>
                    <a:pt x="678958" y="0"/>
                  </a:lnTo>
                  <a:lnTo>
                    <a:pt x="678958" y="530157"/>
                  </a:lnTo>
                  <a:lnTo>
                    <a:pt x="0" y="530157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78958" cy="57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7822" y="1911639"/>
            <a:ext cx="5050529" cy="5201382"/>
          </a:xfrm>
          <a:custGeom>
            <a:avLst/>
            <a:gdLst/>
            <a:ahLst/>
            <a:cxnLst/>
            <a:rect r="r" b="b" t="t" l="l"/>
            <a:pathLst>
              <a:path h="5201382" w="5050529">
                <a:moveTo>
                  <a:pt x="0" y="0"/>
                </a:moveTo>
                <a:lnTo>
                  <a:pt x="5050530" y="0"/>
                </a:lnTo>
                <a:lnTo>
                  <a:pt x="5050530" y="5201381"/>
                </a:lnTo>
                <a:lnTo>
                  <a:pt x="0" y="520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11669" y="1911639"/>
            <a:ext cx="5464661" cy="5201382"/>
          </a:xfrm>
          <a:custGeom>
            <a:avLst/>
            <a:gdLst/>
            <a:ahLst/>
            <a:cxnLst/>
            <a:rect r="r" b="b" t="t" l="l"/>
            <a:pathLst>
              <a:path h="5201382" w="5464661">
                <a:moveTo>
                  <a:pt x="0" y="0"/>
                </a:moveTo>
                <a:lnTo>
                  <a:pt x="5464662" y="0"/>
                </a:lnTo>
                <a:lnTo>
                  <a:pt x="5464662" y="5201381"/>
                </a:lnTo>
                <a:lnTo>
                  <a:pt x="0" y="5201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90631" y="1911639"/>
            <a:ext cx="4904160" cy="5201382"/>
          </a:xfrm>
          <a:custGeom>
            <a:avLst/>
            <a:gdLst/>
            <a:ahLst/>
            <a:cxnLst/>
            <a:rect r="r" b="b" t="t" l="l"/>
            <a:pathLst>
              <a:path h="5201382" w="4904160">
                <a:moveTo>
                  <a:pt x="0" y="0"/>
                </a:moveTo>
                <a:lnTo>
                  <a:pt x="4904159" y="0"/>
                </a:lnTo>
                <a:lnTo>
                  <a:pt x="4904159" y="5201381"/>
                </a:lnTo>
                <a:lnTo>
                  <a:pt x="0" y="5201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19718" y="7255536"/>
            <a:ext cx="4248563" cy="2769897"/>
          </a:xfrm>
          <a:custGeom>
            <a:avLst/>
            <a:gdLst/>
            <a:ahLst/>
            <a:cxnLst/>
            <a:rect r="r" b="b" t="t" l="l"/>
            <a:pathLst>
              <a:path h="2769897" w="4248563">
                <a:moveTo>
                  <a:pt x="0" y="0"/>
                </a:moveTo>
                <a:lnTo>
                  <a:pt x="4248564" y="0"/>
                </a:lnTo>
                <a:lnTo>
                  <a:pt x="4248564" y="2769896"/>
                </a:lnTo>
                <a:lnTo>
                  <a:pt x="0" y="2769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28320" y="521545"/>
            <a:ext cx="2195593" cy="97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b="true" sz="6327" spc="347">
                <a:solidFill>
                  <a:srgbClr val="FFFFFF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60775" y="608529"/>
            <a:ext cx="4398905" cy="8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856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Principales funciones y métodos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51253" y="9409711"/>
            <a:ext cx="4046056" cy="2430717"/>
            <a:chOff x="0" y="0"/>
            <a:chExt cx="1065628" cy="640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6765398" y="9206655"/>
            <a:ext cx="204131" cy="1145622"/>
            <a:chOff x="0" y="0"/>
            <a:chExt cx="272175" cy="152749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91C59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-58593" y="-390875"/>
            <a:ext cx="1306415" cy="1409933"/>
            <a:chOff x="0" y="0"/>
            <a:chExt cx="476073" cy="5137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6196" y="1694718"/>
            <a:ext cx="13577011" cy="6897563"/>
            <a:chOff x="0" y="0"/>
            <a:chExt cx="3575838" cy="1816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838" cy="1816642"/>
            </a:xfrm>
            <a:custGeom>
              <a:avLst/>
              <a:gdLst/>
              <a:ahLst/>
              <a:cxnLst/>
              <a:rect r="r" b="b" t="t" l="l"/>
              <a:pathLst>
                <a:path h="1816642" w="3575838">
                  <a:moveTo>
                    <a:pt x="0" y="0"/>
                  </a:moveTo>
                  <a:lnTo>
                    <a:pt x="3575838" y="0"/>
                  </a:lnTo>
                  <a:lnTo>
                    <a:pt x="3575838" y="1816642"/>
                  </a:lnTo>
                  <a:lnTo>
                    <a:pt x="0" y="1816642"/>
                  </a:lnTo>
                  <a:close/>
                </a:path>
              </a:pathLst>
            </a:custGeom>
            <a:ln w="104775" cap="sq">
              <a:solidFill>
                <a:srgbClr val="2B32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575838" cy="1864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60233" y="-877303"/>
            <a:ext cx="3086100" cy="12041606"/>
            <a:chOff x="0" y="0"/>
            <a:chExt cx="812800" cy="317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71452"/>
            </a:xfrm>
            <a:custGeom>
              <a:avLst/>
              <a:gdLst/>
              <a:ahLst/>
              <a:cxnLst/>
              <a:rect r="r" b="b" t="t" l="l"/>
              <a:pathLst>
                <a:path h="31714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171452"/>
                  </a:lnTo>
                  <a:lnTo>
                    <a:pt x="0" y="3171452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321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89506" y="9258300"/>
            <a:ext cx="4046056" cy="2430717"/>
            <a:chOff x="0" y="0"/>
            <a:chExt cx="1065628" cy="640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5628" cy="640189"/>
            </a:xfrm>
            <a:custGeom>
              <a:avLst/>
              <a:gdLst/>
              <a:ahLst/>
              <a:cxnLst/>
              <a:rect r="r" b="b" t="t" l="l"/>
              <a:pathLst>
                <a:path h="640189" w="1065628">
                  <a:moveTo>
                    <a:pt x="0" y="0"/>
                  </a:moveTo>
                  <a:lnTo>
                    <a:pt x="1065628" y="0"/>
                  </a:lnTo>
                  <a:lnTo>
                    <a:pt x="1065628" y="640189"/>
                  </a:lnTo>
                  <a:lnTo>
                    <a:pt x="0" y="640189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65628" cy="68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500" y="741664"/>
            <a:ext cx="204131" cy="1145622"/>
            <a:chOff x="0" y="0"/>
            <a:chExt cx="272175" cy="152749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5400000">
            <a:off x="16905719" y="9142704"/>
            <a:ext cx="204131" cy="1145622"/>
            <a:chOff x="0" y="0"/>
            <a:chExt cx="272175" cy="152749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72175" cy="27217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627661"/>
              <a:ext cx="272175" cy="272175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255321"/>
              <a:ext cx="272175" cy="272175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ED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114559" lIns="114559" bIns="114559" rIns="11455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2478765" y="1802261"/>
            <a:ext cx="13365858" cy="6683864"/>
          </a:xfrm>
          <a:custGeom>
            <a:avLst/>
            <a:gdLst/>
            <a:ahLst/>
            <a:cxnLst/>
            <a:rect r="r" b="b" t="t" l="l"/>
            <a:pathLst>
              <a:path h="6683864" w="13365858">
                <a:moveTo>
                  <a:pt x="0" y="0"/>
                </a:moveTo>
                <a:lnTo>
                  <a:pt x="13365858" y="0"/>
                </a:lnTo>
                <a:lnTo>
                  <a:pt x="13365858" y="6683864"/>
                </a:lnTo>
                <a:lnTo>
                  <a:pt x="0" y="668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7" t="-6218" r="-1030" b="-6358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112780" y="3061827"/>
            <a:ext cx="14103844" cy="375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2"/>
              </a:lnSpc>
            </a:pPr>
            <a:r>
              <a:rPr lang="en-US" b="true" sz="12099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MUCHAS</a:t>
            </a:r>
          </a:p>
          <a:p>
            <a:pPr algn="ctr">
              <a:lnSpc>
                <a:spcPts val="14882"/>
              </a:lnSpc>
            </a:pPr>
            <a:r>
              <a:rPr lang="en-US" b="true" sz="12099">
                <a:solidFill>
                  <a:srgbClr val="EDEDE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GRACIAS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7286231" y="44618"/>
            <a:ext cx="1001769" cy="1081147"/>
            <a:chOff x="0" y="0"/>
            <a:chExt cx="476073" cy="5137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6073" cy="513796"/>
            </a:xfrm>
            <a:custGeom>
              <a:avLst/>
              <a:gdLst/>
              <a:ahLst/>
              <a:cxnLst/>
              <a:rect r="r" b="b" t="t" l="l"/>
              <a:pathLst>
                <a:path h="513796" w="476073">
                  <a:moveTo>
                    <a:pt x="0" y="0"/>
                  </a:moveTo>
                  <a:lnTo>
                    <a:pt x="476073" y="0"/>
                  </a:lnTo>
                  <a:lnTo>
                    <a:pt x="476073" y="513796"/>
                  </a:lnTo>
                  <a:lnTo>
                    <a:pt x="0" y="513796"/>
                  </a:lnTo>
                  <a:close/>
                </a:path>
              </a:pathLst>
            </a:custGeom>
            <a:solidFill>
              <a:srgbClr val="2B326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76073" cy="561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DAHBlGlksLs</dc:identifier>
  <dcterms:modified xsi:type="dcterms:W3CDTF">2011-08-01T06:04:30Z</dcterms:modified>
  <cp:revision>1</cp:revision>
  <dc:title>Presentación de emprendimiento tecnológico Güensebs. Primer corte evaluativo, Integrador II</dc:title>
</cp:coreProperties>
</file>